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8686800" cy="777240"/>
          </a:xfrm>
          <a:prstGeom prst="rect">
            <a:avLst/>
          </a:prstGeom>
          <a:solidFill>
            <a:srgbClr val="0D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64592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4128" y="164592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ColYbiz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937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C8EDD8"/>
                </a:solidFill>
                <a:latin typeface="Arial"/>
              </a:rPr>
              <a:t>Comunicación automática por WhatsApp para administradoras de condominios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8686800" cy="777240"/>
          </a:xfrm>
          <a:prstGeom prst="rect">
            <a:avLst/>
          </a:prstGeom>
          <a:solidFill>
            <a:srgbClr val="F0FAF5"/>
          </a:solidFill>
          <a:ln w="12700">
            <a:solidFill>
              <a:srgbClr val="D6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42415"/>
            <a:ext cx="8503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D6E4F"/>
                </a:solidFill>
                <a:latin typeface="Arial"/>
              </a:rPr>
              <a:t>Su sistema ya tiene mensajería. El problema es que sus condóminos no abren la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8503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WhatsApp tiene 95% de tasa de apertura. Su plataforma, con suerte un 15%. ColYbiz llega donde la gente sí responde.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01952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99339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6E4F"/>
                </a:solidFill>
                <a:latin typeface="Arial"/>
              </a:rPr>
              <a:t>¿Le suena familiar?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73152" cy="73152"/>
          </a:xfrm>
          <a:prstGeom prst="rect">
            <a:avLst/>
          </a:prstGeom>
          <a:solidFill>
            <a:srgbClr val="15A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3886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Su equipo manda recordatorios de cuota manualmente, uno por uno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73152" cy="73152"/>
          </a:xfrm>
          <a:prstGeom prst="rect">
            <a:avLst/>
          </a:prstGeom>
          <a:solidFill>
            <a:srgbClr val="15A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51176"/>
            <a:ext cx="3886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Los condóminos dicen que "no sabían" — aunque el sistema sí envió la notificación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79"/>
            <a:ext cx="73152" cy="73152"/>
          </a:xfrm>
          <a:prstGeom prst="rect">
            <a:avLst/>
          </a:prstGeom>
          <a:solidFill>
            <a:srgbClr val="15A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71215"/>
            <a:ext cx="3886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No tiene claridad de quién recibió qué mensaje ni cuándo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73152" cy="73152"/>
          </a:xfrm>
          <a:prstGeom prst="rect">
            <a:avLst/>
          </a:prstGeom>
          <a:solidFill>
            <a:srgbClr val="15A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91256"/>
            <a:ext cx="3886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Los grupos de WhatsApp del condominio generan roces y ruido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901952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199339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6E4F"/>
                </a:solidFill>
                <a:latin typeface="Arial"/>
              </a:rPr>
              <a:t>Así funciona ColYbiz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249424"/>
            <a:ext cx="201168" cy="201168"/>
          </a:xfrm>
          <a:prstGeom prst="rect">
            <a:avLst/>
          </a:prstGeom>
          <a:solidFill>
            <a:srgbClr val="15A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249424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231136"/>
            <a:ext cx="3749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0D6E4F"/>
                </a:solidFill>
                <a:latin typeface="Arial"/>
              </a:rPr>
              <a:t>Sube tu lista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14016"/>
            <a:ext cx="3749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  <a:latin typeface="Arial"/>
              </a:rPr>
              <a:t>Excel con condóminos, montos y fechas. Listo en minutos.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688336"/>
            <a:ext cx="201168" cy="201168"/>
          </a:xfrm>
          <a:prstGeom prst="rect">
            <a:avLst/>
          </a:prstGeom>
          <a:solidFill>
            <a:srgbClr val="15A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688336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670048"/>
            <a:ext cx="3749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0D6E4F"/>
                </a:solidFill>
                <a:latin typeface="Arial"/>
              </a:rPr>
              <a:t>ColYbiz envía automático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852928"/>
            <a:ext cx="3749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  <a:latin typeface="Arial"/>
              </a:rPr>
              <a:t>Mensajes personalizados por WhatsApp en los momentos exactos del mes.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3127248"/>
            <a:ext cx="201168" cy="201168"/>
          </a:xfrm>
          <a:prstGeom prst="rect">
            <a:avLst/>
          </a:prstGeom>
          <a:solidFill>
            <a:srgbClr val="15A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127248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108960"/>
            <a:ext cx="3749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0D6E4F"/>
                </a:solidFill>
                <a:latin typeface="Arial"/>
              </a:rPr>
              <a:t>Tú solo monitoreas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291840"/>
            <a:ext cx="3749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  <a:latin typeface="Arial"/>
              </a:rPr>
              <a:t>Dashboard en tiempo real: quién recibió, quién pagó, quién sigue pendiente.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730752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3785615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D6E4F"/>
                </a:solidFill>
                <a:latin typeface="Arial"/>
              </a:rPr>
              <a:t>Secuencia automática del 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005072"/>
            <a:ext cx="2816352" cy="201168"/>
          </a:xfrm>
          <a:prstGeom prst="rect">
            <a:avLst/>
          </a:prstGeom>
          <a:solidFill>
            <a:srgbClr val="0D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4005072"/>
            <a:ext cx="2816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Día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233672"/>
            <a:ext cx="27249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Recordatorio amable a todos los condóminos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005072"/>
            <a:ext cx="2816352" cy="201168"/>
          </a:xfrm>
          <a:prstGeom prst="rect">
            <a:avLst/>
          </a:prstGeom>
          <a:solidFill>
            <a:srgbClr val="15A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27248" y="4005072"/>
            <a:ext cx="2816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Día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72968" y="4233672"/>
            <a:ext cx="27249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Seguimiento solo a quienes no han pagado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25896" y="4005072"/>
            <a:ext cx="2816352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25896" y="4005072"/>
            <a:ext cx="2816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Día 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71616" y="4233672"/>
            <a:ext cx="27249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Aviso de recargo próximo — solo morosos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663440"/>
            <a:ext cx="4343400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" y="4663440"/>
            <a:ext cx="4343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Sin ColYbiz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4663440"/>
            <a:ext cx="4343400" cy="228600"/>
          </a:xfrm>
          <a:prstGeom prst="rect">
            <a:avLst/>
          </a:prstGeom>
          <a:solidFill>
            <a:srgbClr val="0D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4663440"/>
            <a:ext cx="4343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Con ColYbiz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892040"/>
            <a:ext cx="4343400" cy="201168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" y="4919472"/>
            <a:ext cx="4251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2-4 hrs/semana en recordatorios manuales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892040"/>
            <a:ext cx="4343400" cy="201168"/>
          </a:xfrm>
          <a:prstGeom prst="rect">
            <a:avLst/>
          </a:prstGeom>
          <a:solidFill>
            <a:srgbClr val="F0FA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36008" y="4919472"/>
            <a:ext cx="4251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10 minutos al mes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5093207"/>
            <a:ext cx="4343400" cy="201168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" y="5120640"/>
            <a:ext cx="4251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Sin registro de envíos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5093207"/>
            <a:ext cx="4343400" cy="201168"/>
          </a:xfrm>
          <a:prstGeom prst="rect">
            <a:avLst/>
          </a:prstGeom>
          <a:solidFill>
            <a:srgbClr val="D6F5E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36008" y="5120640"/>
            <a:ext cx="4251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Trazabilidad completa de cada mensaje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5294376"/>
            <a:ext cx="4343400" cy="201168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" y="5321808"/>
            <a:ext cx="4251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Notificaciones ignoradas en la app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5294376"/>
            <a:ext cx="4343400" cy="201168"/>
          </a:xfrm>
          <a:prstGeom prst="rect">
            <a:avLst/>
          </a:prstGeom>
          <a:solidFill>
            <a:srgbClr val="F0FA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36008" y="5321808"/>
            <a:ext cx="4251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WhatsApp = 95% tasa de apertura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" y="5495544"/>
            <a:ext cx="4343400" cy="201168"/>
          </a:xfrm>
          <a:prstGeom prst="rect">
            <a:avLst/>
          </a:prstGeom>
          <a:solidFill>
            <a:srgbClr val="FDE8E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2608" y="5522976"/>
            <a:ext cx="4251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Mensajes genéricos de grupo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5495544"/>
            <a:ext cx="4343400" cy="201168"/>
          </a:xfrm>
          <a:prstGeom prst="rect">
            <a:avLst/>
          </a:prstGeom>
          <a:solidFill>
            <a:srgbClr val="D6F5E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36008" y="5522976"/>
            <a:ext cx="4251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rial"/>
              </a:rPr>
              <a:t>Mensaje personalizado 1 a 1 por condómino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5687568"/>
            <a:ext cx="8686800" cy="320040"/>
          </a:xfrm>
          <a:prstGeom prst="rect">
            <a:avLst/>
          </a:prstGeom>
          <a:solidFill>
            <a:srgbClr val="0D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5705856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Arial"/>
              </a:rPr>
              <a:t>"Su sistema administra. ColYbiz comunica — donde la gente sí responde."</a:t>
            </a: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080760"/>
            <a:ext cx="256032" cy="25603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48640" y="6089904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4A5568"/>
                </a:solidFill>
                <a:latin typeface="Arial"/>
              </a:rPr>
              <a:t>colybiz.com   |   hola@colybiz.com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6400800"/>
            <a:ext cx="8686800" cy="54864"/>
          </a:xfrm>
          <a:prstGeom prst="rect">
            <a:avLst/>
          </a:prstGeom>
          <a:solidFill>
            <a:srgbClr val="0D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